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oboto Slab"/>
      <p:regular r:id="rId14"/>
      <p:bold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Jd8cckkBhW+VGo0Mw7rv490Fh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9bea200ca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9bea200c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19bea200ca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9bea200c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9bea200c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19bea200ca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9bea200c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9bea200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19bea200c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9bea200ca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9bea200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19bea200ca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94ff7fc7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94ff7fc7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194ff7fc7c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94ff7fc7c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94ff7fc7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194ff7fc7c_0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94ff7fc7c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94ff7fc7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194ff7fc7c_0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 txBox="1"/>
          <p:nvPr>
            <p:ph idx="1" type="body"/>
          </p:nvPr>
        </p:nvSpPr>
        <p:spPr>
          <a:xfrm>
            <a:off x="272086" y="987157"/>
            <a:ext cx="36078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 b="1" i="0" sz="426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45"/>
          <p:cNvSpPr txBox="1"/>
          <p:nvPr>
            <p:ph idx="2" type="body"/>
          </p:nvPr>
        </p:nvSpPr>
        <p:spPr>
          <a:xfrm>
            <a:off x="4336704" y="1741012"/>
            <a:ext cx="75252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45"/>
          <p:cNvSpPr txBox="1"/>
          <p:nvPr>
            <p:ph idx="3" type="body"/>
          </p:nvPr>
        </p:nvSpPr>
        <p:spPr>
          <a:xfrm>
            <a:off x="4328701" y="2560825"/>
            <a:ext cx="7533300" cy="29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7954" lvl="0" marL="457200" marR="0" algn="l">
              <a:spcBef>
                <a:spcPts val="533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Noto Sans Symbols"/>
              <a:buChar char="▪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spcBef>
                <a:spcPts val="480"/>
              </a:spcBef>
              <a:spcAft>
                <a:spcPts val="0"/>
              </a:spcAft>
              <a:buClr>
                <a:srgbClr val="E4610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4045" lvl="2" marL="1371600" marR="0" algn="l">
              <a:spcBef>
                <a:spcPts val="427"/>
              </a:spcBef>
              <a:spcAft>
                <a:spcPts val="0"/>
              </a:spcAft>
              <a:buClr>
                <a:srgbClr val="E46102"/>
              </a:buClr>
              <a:buSzPts val="2133"/>
              <a:buFont typeface="Noto Sans Symbols"/>
              <a:buChar char="▪"/>
              <a:defRPr b="0" i="0" sz="2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4" lvl="3" marL="1828800" marR="0" algn="l">
              <a:spcBef>
                <a:spcPts val="373"/>
              </a:spcBef>
              <a:spcAft>
                <a:spcPts val="0"/>
              </a:spcAft>
              <a:buClr>
                <a:srgbClr val="D95E00"/>
              </a:buClr>
              <a:buSzPts val="1867"/>
              <a:buFont typeface="NTR"/>
              <a:buChar char="&gt;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spcBef>
                <a:spcPts val="320"/>
              </a:spcBef>
              <a:spcAft>
                <a:spcPts val="0"/>
              </a:spcAft>
              <a:buClr>
                <a:srgbClr val="D95E00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spcBef>
                <a:spcPts val="293"/>
              </a:spcBef>
              <a:spcAft>
                <a:spcPts val="0"/>
              </a:spcAft>
              <a:buClr>
                <a:srgbClr val="D95E00"/>
              </a:buClr>
              <a:buSzPts val="1467"/>
              <a:buFont typeface="NTR"/>
              <a:buNone/>
              <a:defRPr b="0" i="0" sz="14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spcBef>
                <a:spcPts val="267"/>
              </a:spcBef>
              <a:spcAft>
                <a:spcPts val="0"/>
              </a:spcAft>
              <a:buClr>
                <a:srgbClr val="D95E00"/>
              </a:buClr>
              <a:buSzPts val="1333"/>
              <a:buFont typeface="Noto Sans Symbols"/>
              <a:buNone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45"/>
          <p:cNvSpPr txBox="1"/>
          <p:nvPr>
            <p:ph idx="4" type="body"/>
          </p:nvPr>
        </p:nvSpPr>
        <p:spPr>
          <a:xfrm>
            <a:off x="0" y="5511800"/>
            <a:ext cx="121920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8" name="Google Shape;18;p45"/>
          <p:cNvCxnSpPr/>
          <p:nvPr/>
        </p:nvCxnSpPr>
        <p:spPr>
          <a:xfrm>
            <a:off x="272085" y="512494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45"/>
          <p:cNvCxnSpPr/>
          <p:nvPr/>
        </p:nvCxnSpPr>
        <p:spPr>
          <a:xfrm>
            <a:off x="3376635" y="512494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6"/>
          <p:cNvCxnSpPr/>
          <p:nvPr/>
        </p:nvCxnSpPr>
        <p:spPr>
          <a:xfrm>
            <a:off x="272085" y="513092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46"/>
          <p:cNvCxnSpPr/>
          <p:nvPr/>
        </p:nvCxnSpPr>
        <p:spPr>
          <a:xfrm>
            <a:off x="3376635" y="513092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6"/>
          <p:cNvSpPr txBox="1"/>
          <p:nvPr>
            <p:ph idx="2" type="body"/>
          </p:nvPr>
        </p:nvSpPr>
        <p:spPr>
          <a:xfrm>
            <a:off x="272085" y="958452"/>
            <a:ext cx="11589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747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Arial"/>
              <a:buNone/>
              <a:defRPr b="1" i="0" sz="3733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6"/>
          <p:cNvSpPr txBox="1"/>
          <p:nvPr>
            <p:ph idx="3" type="body"/>
          </p:nvPr>
        </p:nvSpPr>
        <p:spPr>
          <a:xfrm>
            <a:off x="272085" y="1744225"/>
            <a:ext cx="11589900" cy="3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▪"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7954" lvl="1" marL="914400" marR="0" algn="l">
              <a:spcBef>
                <a:spcPts val="533"/>
              </a:spcBef>
              <a:spcAft>
                <a:spcPts val="0"/>
              </a:spcAft>
              <a:buClr>
                <a:srgbClr val="E46102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E4610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4045" lvl="3" marL="1828800" marR="0" algn="l">
              <a:spcBef>
                <a:spcPts val="427"/>
              </a:spcBef>
              <a:spcAft>
                <a:spcPts val="0"/>
              </a:spcAft>
              <a:buClr>
                <a:srgbClr val="D95E00"/>
              </a:buClr>
              <a:buSzPts val="2133"/>
              <a:buFont typeface="NTR"/>
              <a:buChar char="&gt;"/>
              <a:defRPr b="0" i="0" sz="2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4" lvl="4" marL="2286000" marR="0" algn="l">
              <a:spcBef>
                <a:spcPts val="373"/>
              </a:spcBef>
              <a:spcAft>
                <a:spcPts val="0"/>
              </a:spcAft>
              <a:buClr>
                <a:srgbClr val="D95E00"/>
              </a:buClr>
              <a:buSzPts val="1867"/>
              <a:buFont typeface="Noto Sans Symbols"/>
              <a:buChar char="▪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algn="l">
              <a:spcBef>
                <a:spcPts val="320"/>
              </a:spcBef>
              <a:spcAft>
                <a:spcPts val="0"/>
              </a:spcAft>
              <a:buClr>
                <a:srgbClr val="D95E00"/>
              </a:buClr>
              <a:buSzPts val="1600"/>
              <a:buFont typeface="NTR"/>
              <a:buChar char="&gt;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3245" lvl="6" marL="3200400" marR="0" algn="l">
              <a:spcBef>
                <a:spcPts val="267"/>
              </a:spcBef>
              <a:spcAft>
                <a:spcPts val="0"/>
              </a:spcAft>
              <a:buClr>
                <a:srgbClr val="D95E00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algn="l">
              <a:spcBef>
                <a:spcPts val="240"/>
              </a:spcBef>
              <a:spcAft>
                <a:spcPts val="0"/>
              </a:spcAft>
              <a:buClr>
                <a:srgbClr val="D95E00"/>
              </a:buClr>
              <a:buSzPts val="1200"/>
              <a:buFont typeface="NTR"/>
              <a:buChar char="&gt;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 showMasterSp="0">
  <p:cSld name="Transition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47"/>
          <p:cNvCxnSpPr/>
          <p:nvPr/>
        </p:nvCxnSpPr>
        <p:spPr>
          <a:xfrm>
            <a:off x="272085" y="513091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47"/>
          <p:cNvCxnSpPr/>
          <p:nvPr/>
        </p:nvCxnSpPr>
        <p:spPr>
          <a:xfrm>
            <a:off x="3376635" y="513091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7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7"/>
          <p:cNvSpPr txBox="1"/>
          <p:nvPr>
            <p:ph idx="2" type="body"/>
          </p:nvPr>
        </p:nvSpPr>
        <p:spPr>
          <a:xfrm>
            <a:off x="272085" y="3987800"/>
            <a:ext cx="11589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1" i="0" sz="5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1" name="Google Shape;3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8433" y="198708"/>
            <a:ext cx="556190" cy="218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8"/>
          <p:cNvSpPr txBox="1"/>
          <p:nvPr>
            <p:ph type="ctrTitle"/>
          </p:nvPr>
        </p:nvSpPr>
        <p:spPr>
          <a:xfrm>
            <a:off x="914400" y="2873378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43"/>
              <a:buFont typeface="Arial"/>
              <a:buNone/>
              <a:defRPr b="0" sz="4443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48"/>
          <p:cNvSpPr txBox="1"/>
          <p:nvPr>
            <p:ph idx="1" type="subTitle"/>
          </p:nvPr>
        </p:nvSpPr>
        <p:spPr>
          <a:xfrm>
            <a:off x="1828801" y="492760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Font typeface="Arial"/>
              <a:buNone/>
              <a:defRPr b="0" i="0" sz="426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Font typeface="Arial"/>
              <a:buNone/>
              <a:defRPr b="0" i="0" sz="3733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Font typeface="Arial"/>
              <a:buNone/>
              <a:defRPr b="0" i="0" sz="2667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9"/>
          <p:cNvSpPr txBox="1"/>
          <p:nvPr>
            <p:ph type="title"/>
          </p:nvPr>
        </p:nvSpPr>
        <p:spPr>
          <a:xfrm>
            <a:off x="609600" y="900113"/>
            <a:ext cx="10972800" cy="10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9"/>
          <p:cNvSpPr txBox="1"/>
          <p:nvPr>
            <p:ph idx="1" type="body"/>
          </p:nvPr>
        </p:nvSpPr>
        <p:spPr>
          <a:xfrm>
            <a:off x="697867" y="2030300"/>
            <a:ext cx="10972800" cy="31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49"/>
          <p:cNvSpPr txBox="1"/>
          <p:nvPr>
            <p:ph idx="10" type="dt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49"/>
          <p:cNvSpPr txBox="1"/>
          <p:nvPr>
            <p:ph idx="11" type="ftr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49"/>
          <p:cNvSpPr txBox="1"/>
          <p:nvPr>
            <p:ph idx="12" type="sldNum"/>
          </p:nvPr>
        </p:nvSpPr>
        <p:spPr>
          <a:xfrm>
            <a:off x="9347200" y="92011"/>
            <a:ext cx="2844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51832" y="-89532"/>
            <a:ext cx="12867059" cy="855991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0"/>
          <p:cNvSpPr txBox="1"/>
          <p:nvPr>
            <p:ph idx="1" type="body"/>
          </p:nvPr>
        </p:nvSpPr>
        <p:spPr>
          <a:xfrm>
            <a:off x="1006053" y="1989626"/>
            <a:ext cx="101517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50"/>
          <p:cNvSpPr txBox="1"/>
          <p:nvPr>
            <p:ph idx="2" type="body"/>
          </p:nvPr>
        </p:nvSpPr>
        <p:spPr>
          <a:xfrm>
            <a:off x="1006053" y="2477257"/>
            <a:ext cx="7724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50"/>
          <p:cNvSpPr txBox="1"/>
          <p:nvPr>
            <p:ph idx="3" type="body"/>
          </p:nvPr>
        </p:nvSpPr>
        <p:spPr>
          <a:xfrm>
            <a:off x="0" y="5532754"/>
            <a:ext cx="121920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50"/>
          <p:cNvSpPr txBox="1"/>
          <p:nvPr>
            <p:ph idx="4" type="body"/>
          </p:nvPr>
        </p:nvSpPr>
        <p:spPr>
          <a:xfrm>
            <a:off x="1006053" y="375845"/>
            <a:ext cx="10151700" cy="15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0" name="Google Shape;5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5722" y="145901"/>
            <a:ext cx="585082" cy="229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Page Content">
  <p:cSld name="Full-Page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51"/>
          <p:cNvCxnSpPr/>
          <p:nvPr/>
        </p:nvCxnSpPr>
        <p:spPr>
          <a:xfrm>
            <a:off x="272085" y="513092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51"/>
          <p:cNvCxnSpPr/>
          <p:nvPr/>
        </p:nvCxnSpPr>
        <p:spPr>
          <a:xfrm>
            <a:off x="3376635" y="513092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51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51"/>
          <p:cNvSpPr txBox="1"/>
          <p:nvPr>
            <p:ph idx="2" type="body"/>
          </p:nvPr>
        </p:nvSpPr>
        <p:spPr>
          <a:xfrm>
            <a:off x="272085" y="863428"/>
            <a:ext cx="11589900" cy="4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52"/>
          <p:cNvCxnSpPr/>
          <p:nvPr/>
        </p:nvCxnSpPr>
        <p:spPr>
          <a:xfrm>
            <a:off x="272085" y="513092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52"/>
          <p:cNvCxnSpPr/>
          <p:nvPr/>
        </p:nvCxnSpPr>
        <p:spPr>
          <a:xfrm>
            <a:off x="3376635" y="513092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52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52"/>
          <p:cNvSpPr txBox="1"/>
          <p:nvPr>
            <p:ph idx="2" type="body"/>
          </p:nvPr>
        </p:nvSpPr>
        <p:spPr>
          <a:xfrm>
            <a:off x="6256867" y="863692"/>
            <a:ext cx="5604900" cy="4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52"/>
          <p:cNvSpPr txBox="1"/>
          <p:nvPr>
            <p:ph idx="3" type="body"/>
          </p:nvPr>
        </p:nvSpPr>
        <p:spPr>
          <a:xfrm>
            <a:off x="272085" y="863428"/>
            <a:ext cx="5612100" cy="4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53"/>
          <p:cNvCxnSpPr/>
          <p:nvPr/>
        </p:nvCxnSpPr>
        <p:spPr>
          <a:xfrm>
            <a:off x="272085" y="513092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53"/>
          <p:cNvCxnSpPr/>
          <p:nvPr/>
        </p:nvCxnSpPr>
        <p:spPr>
          <a:xfrm>
            <a:off x="3376635" y="513092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53"/>
          <p:cNvSpPr txBox="1"/>
          <p:nvPr>
            <p:ph idx="1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53"/>
          <p:cNvSpPr txBox="1"/>
          <p:nvPr>
            <p:ph idx="2" type="body"/>
          </p:nvPr>
        </p:nvSpPr>
        <p:spPr>
          <a:xfrm>
            <a:off x="264584" y="862676"/>
            <a:ext cx="347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 b="1" i="0" sz="4267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53"/>
          <p:cNvSpPr txBox="1"/>
          <p:nvPr>
            <p:ph idx="3" type="body"/>
          </p:nvPr>
        </p:nvSpPr>
        <p:spPr>
          <a:xfrm>
            <a:off x="264584" y="1873340"/>
            <a:ext cx="3471300" cy="3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53"/>
          <p:cNvSpPr txBox="1"/>
          <p:nvPr>
            <p:ph idx="4" type="body"/>
          </p:nvPr>
        </p:nvSpPr>
        <p:spPr>
          <a:xfrm>
            <a:off x="4000501" y="863692"/>
            <a:ext cx="7861200" cy="4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None/>
              <a:defRPr b="0" i="1" sz="42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or End Slide">
  <p:cSld name="Section Header or End Slid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E461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54"/>
          <p:cNvCxnSpPr/>
          <p:nvPr/>
        </p:nvCxnSpPr>
        <p:spPr>
          <a:xfrm>
            <a:off x="272085" y="513091"/>
            <a:ext cx="2674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54"/>
          <p:cNvCxnSpPr/>
          <p:nvPr/>
        </p:nvCxnSpPr>
        <p:spPr>
          <a:xfrm>
            <a:off x="3376635" y="513091"/>
            <a:ext cx="84855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54"/>
          <p:cNvSpPr txBox="1"/>
          <p:nvPr>
            <p:ph idx="1" type="body"/>
          </p:nvPr>
        </p:nvSpPr>
        <p:spPr>
          <a:xfrm>
            <a:off x="272085" y="4258733"/>
            <a:ext cx="11589900" cy="12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54"/>
          <p:cNvSpPr txBox="1"/>
          <p:nvPr>
            <p:ph idx="2" type="body"/>
          </p:nvPr>
        </p:nvSpPr>
        <p:spPr>
          <a:xfrm>
            <a:off x="0" y="5511801"/>
            <a:ext cx="12192000" cy="1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Clr>
                <a:srgbClr val="FF0000"/>
              </a:buClr>
              <a:buSzPts val="4267"/>
              <a:buFont typeface="Arial"/>
              <a:buNone/>
              <a:defRPr b="0" i="1" sz="4267" u="none" cap="none" strike="noStrik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indent="-465645" lvl="1" marL="914400" marR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5" name="Google Shape;75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8433" y="198708"/>
            <a:ext cx="556190" cy="218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/>
        </p:nvSpPr>
        <p:spPr>
          <a:xfrm>
            <a:off x="11476827" y="257543"/>
            <a:ext cx="124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|  </a:t>
            </a:r>
            <a:fld id="{00000000-1234-1234-1234-123412341234}" type="slidenum">
              <a:rPr b="0" i="0" lang="en" sz="11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58433" y="198708"/>
            <a:ext cx="556190" cy="218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18566" y="304811"/>
            <a:ext cx="2258261" cy="13495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/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Arial"/>
              <a:buNone/>
            </a:pPr>
            <a:r>
              <a:rPr lang="en" sz="5800">
                <a:solidFill>
                  <a:schemeClr val="dk1"/>
                </a:solidFill>
              </a:rPr>
              <a:t>Readmission of hospital patients</a:t>
            </a:r>
            <a:endParaRPr sz="5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Arial"/>
              <a:buNone/>
            </a:pPr>
            <a:r>
              <a:rPr lang="en" sz="3200">
                <a:solidFill>
                  <a:schemeClr val="dk1"/>
                </a:solidFill>
              </a:rPr>
              <a:t>Course Project</a:t>
            </a:r>
            <a:br>
              <a:rPr b="0" i="0" lang="en" sz="5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(DSCI 633)</a:t>
            </a:r>
            <a:endParaRPr b="0" i="0" sz="58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415600" y="4971137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Manasi Patil</a:t>
            </a:r>
            <a:endParaRPr/>
          </a:p>
          <a:p>
            <a:pPr indent="0" lvl="0" marL="0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Rochester Institute of Technology</a:t>
            </a:r>
            <a:endParaRPr/>
          </a:p>
          <a:p>
            <a:pPr indent="0" lvl="0" marL="0" marR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9bea200ca_0_31"/>
          <p:cNvSpPr txBox="1"/>
          <p:nvPr>
            <p:ph type="title"/>
          </p:nvPr>
        </p:nvSpPr>
        <p:spPr>
          <a:xfrm>
            <a:off x="609600" y="348913"/>
            <a:ext cx="10972800" cy="10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Strategy</a:t>
            </a:r>
            <a:endParaRPr/>
          </a:p>
        </p:txBody>
      </p:sp>
      <p:sp>
        <p:nvSpPr>
          <p:cNvPr id="88" name="Google Shape;88;g319bea200ca_0_31"/>
          <p:cNvSpPr/>
          <p:nvPr/>
        </p:nvSpPr>
        <p:spPr>
          <a:xfrm>
            <a:off x="373550" y="1417225"/>
            <a:ext cx="11320800" cy="5361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Pre-Processing Steps:</a:t>
            </a:r>
            <a:endParaRPr b="1"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Cleaning: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Feature Engineering: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Encoded categorical variables using one-hot encoding(race)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Used label encoding(diagnosis column)  and ordinal transformations (age replaced with midpoints).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Splitting: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 and y variables were introduced.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Dataset was divided into two parts: 70% for training and 30% for testing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Balancing dataset: Applied SMOTE to address imbalanced readmission classes, ensuring a fair model performance.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g319bea200ca_0_31"/>
          <p:cNvSpPr/>
          <p:nvPr/>
        </p:nvSpPr>
        <p:spPr>
          <a:xfrm>
            <a:off x="1998950" y="2525525"/>
            <a:ext cx="2951400" cy="1273800"/>
          </a:xfrm>
          <a:prstGeom prst="chevron">
            <a:avLst>
              <a:gd fmla="val 50000" name="adj"/>
            </a:avLst>
          </a:prstGeom>
          <a:solidFill>
            <a:srgbClr val="76A5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Dropped irrelevant features with excessive missing values (e.g., payer_code, weight)</a:t>
            </a:r>
            <a:endParaRPr b="1" sz="12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g319bea200ca_0_31"/>
          <p:cNvSpPr/>
          <p:nvPr/>
        </p:nvSpPr>
        <p:spPr>
          <a:xfrm>
            <a:off x="609600" y="2525525"/>
            <a:ext cx="1765800" cy="1273800"/>
          </a:xfrm>
          <a:prstGeom prst="homePlate">
            <a:avLst>
              <a:gd fmla="val 50000" name="adj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Handled missing values and imputing them</a:t>
            </a:r>
            <a:endParaRPr b="1" sz="12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1" name="Google Shape;91;g319bea200ca_0_31"/>
          <p:cNvSpPr/>
          <p:nvPr/>
        </p:nvSpPr>
        <p:spPr>
          <a:xfrm>
            <a:off x="4533625" y="2506475"/>
            <a:ext cx="2370000" cy="1311900"/>
          </a:xfrm>
          <a:prstGeom prst="chevron">
            <a:avLst>
              <a:gd fmla="val 50000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Checked for duplicate rows and removed if any</a:t>
            </a:r>
            <a:endParaRPr b="1" sz="1200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2" name="Google Shape;92;g319bea200ca_0_31"/>
          <p:cNvSpPr/>
          <p:nvPr/>
        </p:nvSpPr>
        <p:spPr>
          <a:xfrm>
            <a:off x="6539550" y="2506475"/>
            <a:ext cx="2730900" cy="1311900"/>
          </a:xfrm>
          <a:prstGeom prst="chevron">
            <a:avLst>
              <a:gd fmla="val 50000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Removed identifier columns (encounter_id, patient_nbr) as they lacked predictive power.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93" name="Google Shape;93;g319bea200ca_0_31"/>
          <p:cNvSpPr/>
          <p:nvPr/>
        </p:nvSpPr>
        <p:spPr>
          <a:xfrm>
            <a:off x="8851500" y="2525525"/>
            <a:ext cx="2730900" cy="1311900"/>
          </a:xfrm>
          <a:prstGeom prst="chevron">
            <a:avLst>
              <a:gd fmla="val 50000" name="adj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Dropped columns which have very low correlation with the target variable (readmitted)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9bea200ca_0_22"/>
          <p:cNvSpPr txBox="1"/>
          <p:nvPr>
            <p:ph type="title"/>
          </p:nvPr>
        </p:nvSpPr>
        <p:spPr>
          <a:xfrm>
            <a:off x="609600" y="900113"/>
            <a:ext cx="10972800" cy="10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Plots</a:t>
            </a:r>
            <a:endParaRPr/>
          </a:p>
        </p:txBody>
      </p:sp>
      <p:sp>
        <p:nvSpPr>
          <p:cNvPr id="100" name="Google Shape;100;g319bea200ca_0_22"/>
          <p:cNvSpPr txBox="1"/>
          <p:nvPr>
            <p:ph idx="1" type="body"/>
          </p:nvPr>
        </p:nvSpPr>
        <p:spPr>
          <a:xfrm>
            <a:off x="697867" y="2030300"/>
            <a:ext cx="10972800" cy="31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g319bea200ca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850" y="2030300"/>
            <a:ext cx="7007401" cy="40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19bea200ca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8076" y="2343975"/>
            <a:ext cx="4410801" cy="394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9bea200ca_0_0"/>
          <p:cNvSpPr txBox="1"/>
          <p:nvPr>
            <p:ph type="title"/>
          </p:nvPr>
        </p:nvSpPr>
        <p:spPr>
          <a:xfrm>
            <a:off x="609600" y="572188"/>
            <a:ext cx="10972800" cy="10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Plots</a:t>
            </a:r>
            <a:endParaRPr/>
          </a:p>
        </p:txBody>
      </p:sp>
      <p:sp>
        <p:nvSpPr>
          <p:cNvPr id="109" name="Google Shape;109;g319bea200ca_0_0"/>
          <p:cNvSpPr txBox="1"/>
          <p:nvPr>
            <p:ph idx="1" type="body"/>
          </p:nvPr>
        </p:nvSpPr>
        <p:spPr>
          <a:xfrm>
            <a:off x="697867" y="2030300"/>
            <a:ext cx="10972800" cy="31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g319bea200c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25" y="1801687"/>
            <a:ext cx="5066650" cy="356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19bea200c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0225" y="802075"/>
            <a:ext cx="6617326" cy="249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19bea200ca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0217" y="3429000"/>
            <a:ext cx="6659133" cy="24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9bea200ca_0_10"/>
          <p:cNvSpPr txBox="1"/>
          <p:nvPr>
            <p:ph type="title"/>
          </p:nvPr>
        </p:nvSpPr>
        <p:spPr>
          <a:xfrm>
            <a:off x="4565350" y="105501"/>
            <a:ext cx="7017000" cy="112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66"/>
              <a:t>Plots</a:t>
            </a:r>
            <a:endParaRPr sz="3966"/>
          </a:p>
        </p:txBody>
      </p:sp>
      <p:pic>
        <p:nvPicPr>
          <p:cNvPr id="119" name="Google Shape;119;g319bea200ca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496" y="971049"/>
            <a:ext cx="5070877" cy="299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19bea200ca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050" y="4155141"/>
            <a:ext cx="3496350" cy="261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19bea200ca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945" y="3963924"/>
            <a:ext cx="3967175" cy="299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19bea200ca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9325" y="828475"/>
            <a:ext cx="4931200" cy="306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19bea200ca_0_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42800" y="4050475"/>
            <a:ext cx="3562399" cy="271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94ff7fc7c_0_15"/>
          <p:cNvSpPr txBox="1"/>
          <p:nvPr>
            <p:ph type="title"/>
          </p:nvPr>
        </p:nvSpPr>
        <p:spPr>
          <a:xfrm>
            <a:off x="809200" y="335938"/>
            <a:ext cx="10972800" cy="10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Model Selection and Evaluation</a:t>
            </a:r>
            <a:endParaRPr sz="4000"/>
          </a:p>
        </p:txBody>
      </p:sp>
      <p:sp>
        <p:nvSpPr>
          <p:cNvPr id="130" name="Google Shape;130;g3194ff7fc7c_0_15"/>
          <p:cNvSpPr/>
          <p:nvPr/>
        </p:nvSpPr>
        <p:spPr>
          <a:xfrm>
            <a:off x="749250" y="1261800"/>
            <a:ext cx="10693500" cy="1653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Implemented Logistic Regression, Decision Tree Classifier, XGBoost Classifier and Random Forest Classifier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prevent overfitting and ensure that the model generalizes well, 5-fold cross-validation was used.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Hyperparameter tuning done using GridSearchCV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Parameters includes max_iterations, penalty, solver, etc.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performance of the models were evaluated based on the accuracy, f1 score, precision and recall.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AUC-ROC curve was also drawn to help visualize and  identify better performing model.</a:t>
            </a:r>
            <a:endParaRPr/>
          </a:p>
        </p:txBody>
      </p:sp>
      <p:sp>
        <p:nvSpPr>
          <p:cNvPr id="131" name="Google Shape;131;g3194ff7fc7c_0_15"/>
          <p:cNvSpPr/>
          <p:nvPr/>
        </p:nvSpPr>
        <p:spPr>
          <a:xfrm>
            <a:off x="749250" y="3115325"/>
            <a:ext cx="10693500" cy="375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XGBoost Classifier is evaluated as the best model due to balanced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performance across all the metrics.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XGBoost also achieved the highest AUC-ROC curve, demonstrating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its superior ability to discriminate between patients.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Decision Tree and Random Forest models had good accuracy but 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had very poor recall and were biased.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Logistic Regression has the best recall of 52 percent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but had  weak precision and accuracy. 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Challenge:</a:t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hyperparameter tuning process required a significant amount of time computationally.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g3194ff7fc7c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430" y="3272150"/>
            <a:ext cx="3289594" cy="24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94ff7fc7c_0_25"/>
          <p:cNvSpPr txBox="1"/>
          <p:nvPr>
            <p:ph type="title"/>
          </p:nvPr>
        </p:nvSpPr>
        <p:spPr>
          <a:xfrm>
            <a:off x="3915200" y="219546"/>
            <a:ext cx="5043900" cy="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Evaluations</a:t>
            </a:r>
            <a:endParaRPr/>
          </a:p>
        </p:txBody>
      </p:sp>
      <p:sp>
        <p:nvSpPr>
          <p:cNvPr id="139" name="Google Shape;139;g3194ff7fc7c_0_25"/>
          <p:cNvSpPr txBox="1"/>
          <p:nvPr/>
        </p:nvSpPr>
        <p:spPr>
          <a:xfrm>
            <a:off x="765475" y="4643600"/>
            <a:ext cx="109053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67">
              <a:solidFill>
                <a:schemeClr val="dk1"/>
              </a:solidFill>
            </a:endParaRPr>
          </a:p>
        </p:txBody>
      </p:sp>
      <p:sp>
        <p:nvSpPr>
          <p:cNvPr id="140" name="Google Shape;140;g3194ff7fc7c_0_25"/>
          <p:cNvSpPr/>
          <p:nvPr/>
        </p:nvSpPr>
        <p:spPr>
          <a:xfrm>
            <a:off x="164700" y="1106049"/>
            <a:ext cx="5931300" cy="274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g3194ff7fc7c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25" y="1274655"/>
            <a:ext cx="52006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194ff7fc7c_0_25"/>
          <p:cNvSpPr txBox="1"/>
          <p:nvPr/>
        </p:nvSpPr>
        <p:spPr>
          <a:xfrm>
            <a:off x="1899200" y="3300750"/>
            <a:ext cx="2794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143" name="Google Shape;143;g3194ff7fc7c_0_25"/>
          <p:cNvSpPr/>
          <p:nvPr/>
        </p:nvSpPr>
        <p:spPr>
          <a:xfrm>
            <a:off x="6260700" y="1106050"/>
            <a:ext cx="5775600" cy="274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g3194ff7fc7c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363" y="1303213"/>
            <a:ext cx="5133975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194ff7fc7c_0_25"/>
          <p:cNvSpPr txBox="1"/>
          <p:nvPr/>
        </p:nvSpPr>
        <p:spPr>
          <a:xfrm>
            <a:off x="8101275" y="3356275"/>
            <a:ext cx="2281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Classifier</a:t>
            </a:r>
            <a:endParaRPr/>
          </a:p>
        </p:txBody>
      </p:sp>
      <p:sp>
        <p:nvSpPr>
          <p:cNvPr id="146" name="Google Shape;146;g3194ff7fc7c_0_25"/>
          <p:cNvSpPr/>
          <p:nvPr/>
        </p:nvSpPr>
        <p:spPr>
          <a:xfrm>
            <a:off x="6276225" y="4019350"/>
            <a:ext cx="5760000" cy="274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194ff7fc7c_0_25"/>
          <p:cNvSpPr/>
          <p:nvPr/>
        </p:nvSpPr>
        <p:spPr>
          <a:xfrm>
            <a:off x="164700" y="4019350"/>
            <a:ext cx="5931300" cy="274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g3194ff7fc7c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250" y="4188363"/>
            <a:ext cx="5210175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194ff7fc7c_0_25"/>
          <p:cNvSpPr txBox="1"/>
          <p:nvPr/>
        </p:nvSpPr>
        <p:spPr>
          <a:xfrm>
            <a:off x="1998950" y="6273450"/>
            <a:ext cx="2595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 Classifier</a:t>
            </a:r>
            <a:endParaRPr/>
          </a:p>
        </p:txBody>
      </p:sp>
      <p:sp>
        <p:nvSpPr>
          <p:cNvPr id="150" name="Google Shape;150;g3194ff7fc7c_0_25"/>
          <p:cNvSpPr txBox="1"/>
          <p:nvPr/>
        </p:nvSpPr>
        <p:spPr>
          <a:xfrm>
            <a:off x="8015638" y="6179325"/>
            <a:ext cx="22812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Classifier</a:t>
            </a:r>
            <a:endParaRPr/>
          </a:p>
        </p:txBody>
      </p:sp>
      <p:pic>
        <p:nvPicPr>
          <p:cNvPr id="151" name="Google Shape;151;g3194ff7fc7c_0_25"/>
          <p:cNvPicPr preferRelativeResize="0"/>
          <p:nvPr/>
        </p:nvPicPr>
        <p:blipFill rotWithShape="1">
          <a:blip r:embed="rId6">
            <a:alphaModFix/>
          </a:blip>
          <a:srcRect b="0" l="0" r="0" t="2429"/>
          <a:stretch/>
        </p:blipFill>
        <p:spPr>
          <a:xfrm>
            <a:off x="6513038" y="4197900"/>
            <a:ext cx="528637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94ff7fc7c_0_51"/>
          <p:cNvSpPr txBox="1"/>
          <p:nvPr>
            <p:ph type="ctrTitle"/>
          </p:nvPr>
        </p:nvSpPr>
        <p:spPr>
          <a:xfrm>
            <a:off x="914400" y="2873378"/>
            <a:ext cx="10363200" cy="147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You !!!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T">
  <a:themeElements>
    <a:clrScheme name="RIT">
      <a:dk1>
        <a:srgbClr val="000000"/>
      </a:dk1>
      <a:lt1>
        <a:srgbClr val="FFFFFF"/>
      </a:lt1>
      <a:dk2>
        <a:srgbClr val="6F706F"/>
      </a:dk2>
      <a:lt2>
        <a:srgbClr val="E7E6E6"/>
      </a:lt2>
      <a:accent1>
        <a:srgbClr val="F66900"/>
      </a:accent1>
      <a:accent2>
        <a:srgbClr val="F6BD00"/>
      </a:accent2>
      <a:accent3>
        <a:srgbClr val="C4D500"/>
      </a:accent3>
      <a:accent4>
        <a:srgbClr val="009CBD"/>
      </a:accent4>
      <a:accent5>
        <a:srgbClr val="7D54C7"/>
      </a:accent5>
      <a:accent6>
        <a:srgbClr val="70AD47"/>
      </a:accent6>
      <a:hlink>
        <a:srgbClr val="D64900"/>
      </a:hlink>
      <a:folHlink>
        <a:srgbClr val="71747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2021-08-24T04:52:52Z</dcterms:created>
  <dc:creator>ChangeThisNameLater</dc:creator>
</cp:coreProperties>
</file>